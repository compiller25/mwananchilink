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0"/>
            <a:ext cx="4023360" cy="25704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75" y="4053840"/>
            <a:ext cx="4389120" cy="2804160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1783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86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RIDC PT INNOVATION HACKATHON 2026</a:t>
            </a:r>
            <a:endParaRPr lang="en-US" sz="1400" dirty="0"/>
          </a:p>
        </p:txBody>
      </p:sp>
      <p:sp>
        <p:nvSpPr>
          <p:cNvPr id="8" name="Text 1"/>
          <p:cNvSpPr txBox="1"/>
          <p:nvPr/>
        </p:nvSpPr>
        <p:spPr>
          <a:xfrm>
            <a:off x="640080" y="2194560"/>
            <a:ext cx="8229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CITIZEN</a:t>
            </a:r>
            <a:endParaRPr lang="en-US" sz="5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50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 SYSTEM</a:t>
            </a:r>
            <a:endParaRPr lang="en-US" sz="5000" dirty="0"/>
          </a:p>
        </p:txBody>
      </p:sp>
      <p:sp>
        <p:nvSpPr>
          <p:cNvPr id="9" name="Text 2"/>
          <p:cNvSpPr txBox="1"/>
          <p:nvPr/>
        </p:nvSpPr>
        <p:spPr>
          <a:xfrm>
            <a:off x="640080" y="3931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0E86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( D C R S )</a:t>
            </a:r>
            <a:endParaRPr lang="en-US" sz="2200" dirty="0"/>
          </a:p>
        </p:txBody>
      </p:sp>
      <p:sp>
        <p:nvSpPr>
          <p:cNvPr id="10" name="Text 3"/>
          <p:cNvSpPr txBox="1"/>
          <p:nvPr/>
        </p:nvSpPr>
        <p:spPr>
          <a:xfrm>
            <a:off x="64008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Governance &amp; Public Service Delivery  ·  Software Category</a:t>
            </a:r>
            <a:endParaRPr lang="en-US" sz="1500" dirty="0"/>
          </a:p>
        </p:txBody>
      </p:sp>
      <p:sp>
        <p:nvSpPr>
          <p:cNvPr id="11" name="Shape 4"/>
          <p:cNvSpPr/>
          <p:nvPr/>
        </p:nvSpPr>
        <p:spPr>
          <a:xfrm>
            <a:off x="868680" y="507492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" y="5223510"/>
            <a:ext cx="297180" cy="297180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640080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</a:t>
            </a:r>
            <a:endParaRPr lang="en-US" sz="1200" dirty="0"/>
          </a:p>
        </p:txBody>
      </p:sp>
      <p:sp>
        <p:nvSpPr>
          <p:cNvPr id="14" name="Shape 6"/>
          <p:cNvSpPr/>
          <p:nvPr/>
        </p:nvSpPr>
        <p:spPr>
          <a:xfrm>
            <a:off x="2148840" y="507492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97430" y="5223510"/>
            <a:ext cx="297180" cy="29718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1920240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Electricity</a:t>
            </a:r>
            <a:endParaRPr lang="en-US" sz="1200" dirty="0"/>
          </a:p>
        </p:txBody>
      </p:sp>
      <p:sp>
        <p:nvSpPr>
          <p:cNvPr id="17" name="Shape 8"/>
          <p:cNvSpPr/>
          <p:nvPr/>
        </p:nvSpPr>
        <p:spPr>
          <a:xfrm>
            <a:off x="3429000" y="507492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7590" y="5223510"/>
            <a:ext cx="297180" cy="29718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3200400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Waste</a:t>
            </a:r>
            <a:endParaRPr lang="en-US" sz="1200" dirty="0"/>
          </a:p>
        </p:txBody>
      </p:sp>
      <p:sp>
        <p:nvSpPr>
          <p:cNvPr id="20" name="Shape 10"/>
          <p:cNvSpPr/>
          <p:nvPr/>
        </p:nvSpPr>
        <p:spPr>
          <a:xfrm>
            <a:off x="4709160" y="507492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5223510"/>
            <a:ext cx="297180" cy="297180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4480560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Roads</a:t>
            </a:r>
            <a:endParaRPr lang="en-US" sz="1200" dirty="0"/>
          </a:p>
        </p:txBody>
      </p:sp>
      <p:sp>
        <p:nvSpPr>
          <p:cNvPr id="23" name="Shape 12"/>
          <p:cNvSpPr/>
          <p:nvPr/>
        </p:nvSpPr>
        <p:spPr>
          <a:xfrm>
            <a:off x="5989320" y="507492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7910" y="5223510"/>
            <a:ext cx="297180" cy="29718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5760720" y="57607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10" name="Text 2"/>
          <p:cNvSpPr txBox="1"/>
          <p:nvPr/>
        </p:nvSpPr>
        <p:spPr>
          <a:xfrm>
            <a:off x="640080" y="1874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Record. No Status.</a:t>
            </a:r>
            <a:endParaRPr lang="en-US" sz="2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Visibility.</a:t>
            </a:r>
            <a:endParaRPr lang="en-US" sz="2600" dirty="0"/>
          </a:p>
        </p:txBody>
      </p:sp>
      <p:sp>
        <p:nvSpPr>
          <p:cNvPr id="11" name="Text 3"/>
          <p:cNvSpPr txBox="1"/>
          <p:nvPr/>
        </p:nvSpPr>
        <p:spPr>
          <a:xfrm>
            <a:off x="640080" y="301752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 and district government offices across Tanzania still register citizens and receive community service complaints — water, electricity, waste, roads, and security — through manual, paper-based, or word-of-mouth processes.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640080" y="443484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Officers have no shared system to track what’s outstanding in their own area — and administrators have no real-time picture of service demand or resolution times across wards.</a:t>
            </a:r>
            <a:endParaRPr lang="en-US" sz="1400" dirty="0"/>
          </a:p>
        </p:txBody>
      </p:sp>
      <p:sp>
        <p:nvSpPr>
          <p:cNvPr id="13" name="Shape 5"/>
          <p:cNvSpPr/>
          <p:nvPr/>
        </p:nvSpPr>
        <p:spPr>
          <a:xfrm>
            <a:off x="6583680" y="1874520"/>
            <a:ext cx="4937760" cy="1188720"/>
          </a:xfrm>
          <a:prstGeom prst="roundRect">
            <a:avLst>
              <a:gd name="adj" fmla="val 1076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6858000" y="214884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8020" y="2308860"/>
            <a:ext cx="320040" cy="32004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772400" y="2057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 &amp; word-of-mouth</a:t>
            </a:r>
            <a:endParaRPr lang="en-US" sz="1500" dirty="0"/>
          </a:p>
        </p:txBody>
      </p:sp>
      <p:sp>
        <p:nvSpPr>
          <p:cNvPr id="17" name="Text 8"/>
          <p:cNvSpPr txBox="1"/>
          <p:nvPr/>
        </p:nvSpPr>
        <p:spPr>
          <a:xfrm>
            <a:off x="7772400" y="240487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Registrations and complaints are logged by hand, if logged at all.</a:t>
            </a:r>
            <a:endParaRPr lang="en-US" sz="1200" dirty="0"/>
          </a:p>
        </p:txBody>
      </p:sp>
      <p:sp>
        <p:nvSpPr>
          <p:cNvPr id="18" name="Shape 9"/>
          <p:cNvSpPr/>
          <p:nvPr/>
        </p:nvSpPr>
        <p:spPr>
          <a:xfrm>
            <a:off x="6583680" y="3200400"/>
            <a:ext cx="4937760" cy="1188720"/>
          </a:xfrm>
          <a:prstGeom prst="roundRect">
            <a:avLst>
              <a:gd name="adj" fmla="val 1076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9" name="Shape 10"/>
          <p:cNvSpPr/>
          <p:nvPr/>
        </p:nvSpPr>
        <p:spPr>
          <a:xfrm>
            <a:off x="6858000" y="347472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8020" y="3634740"/>
            <a:ext cx="320040" cy="320040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7772400" y="3383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Zero visibility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7772400" y="373075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case reference number — citizens can’t check a report’s status.</a:t>
            </a:r>
            <a:endParaRPr lang="en-US" sz="1200" dirty="0"/>
          </a:p>
        </p:txBody>
      </p:sp>
      <p:sp>
        <p:nvSpPr>
          <p:cNvPr id="23" name="Shape 13"/>
          <p:cNvSpPr/>
          <p:nvPr/>
        </p:nvSpPr>
        <p:spPr>
          <a:xfrm>
            <a:off x="6583680" y="4526280"/>
            <a:ext cx="4937760" cy="1188720"/>
          </a:xfrm>
          <a:prstGeom prst="roundRect">
            <a:avLst>
              <a:gd name="adj" fmla="val 1076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4" name="Shape 14"/>
          <p:cNvSpPr/>
          <p:nvPr/>
        </p:nvSpPr>
        <p:spPr>
          <a:xfrm>
            <a:off x="6858000" y="480060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8020" y="4960620"/>
            <a:ext cx="320040" cy="32004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772400" y="4709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district-wide picture</a:t>
            </a:r>
            <a:endParaRPr lang="en-US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7772400" y="5056632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shared view of demand, backlogs, or recurring problem areas.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03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WHO IT AFFECTS</a:t>
            </a:r>
            <a:endParaRPr lang="en-US" sz="3200" dirty="0"/>
          </a:p>
        </p:txBody>
      </p:sp>
      <p:sp>
        <p:nvSpPr>
          <p:cNvPr id="10" name="Shape 2"/>
          <p:cNvSpPr/>
          <p:nvPr/>
        </p:nvSpPr>
        <p:spPr>
          <a:xfrm>
            <a:off x="640080" y="1874520"/>
            <a:ext cx="5349240" cy="3886200"/>
          </a:xfrm>
          <a:prstGeom prst="roundRect">
            <a:avLst>
              <a:gd name="adj" fmla="val 3294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1005840" y="219456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0150" y="2388870"/>
            <a:ext cx="388620" cy="38862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2011680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End-Users</a:t>
            </a:r>
            <a:endParaRPr lang="en-US" sz="2200" dirty="0"/>
          </a:p>
        </p:txBody>
      </p:sp>
      <p:sp>
        <p:nvSpPr>
          <p:cNvPr id="14" name="Text 5"/>
          <p:cNvSpPr txBox="1"/>
          <p:nvPr/>
        </p:nvSpPr>
        <p:spPr>
          <a:xfrm>
            <a:off x="2011680" y="26334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Residents who need to register with local government and report community service issues.</a:t>
            </a:r>
            <a:endParaRPr lang="en-US" sz="1200" dirty="0"/>
          </a:p>
        </p:txBody>
      </p:sp>
      <p:sp>
        <p:nvSpPr>
          <p:cNvPr id="15" name="Text 6"/>
          <p:cNvSpPr txBox="1"/>
          <p:nvPr/>
        </p:nvSpPr>
        <p:spPr>
          <a:xfrm>
            <a:off x="1005840" y="361188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Register once with ID, contact &amp; mtaa-level location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Includes citizens on basic feature phones with limited or no data access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 automatic SMS updates at every stage of their case</a:t>
            </a:r>
            <a:endParaRPr lang="en-US" sz="1500" dirty="0"/>
          </a:p>
        </p:txBody>
      </p:sp>
      <p:sp>
        <p:nvSpPr>
          <p:cNvPr id="16" name="Shape 7"/>
          <p:cNvSpPr/>
          <p:nvPr/>
        </p:nvSpPr>
        <p:spPr>
          <a:xfrm>
            <a:off x="6199632" y="1874520"/>
            <a:ext cx="5349240" cy="3886200"/>
          </a:xfrm>
          <a:prstGeom prst="roundRect">
            <a:avLst>
              <a:gd name="adj" fmla="val 3294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7" name="Shape 8"/>
          <p:cNvSpPr/>
          <p:nvPr/>
        </p:nvSpPr>
        <p:spPr>
          <a:xfrm>
            <a:off x="6565392" y="219456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9702" y="2388870"/>
            <a:ext cx="388620" cy="38862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571232" y="2176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Decision-Makers</a:t>
            </a:r>
            <a:endParaRPr lang="en-US" sz="2200" dirty="0"/>
          </a:p>
        </p:txBody>
      </p:sp>
      <p:sp>
        <p:nvSpPr>
          <p:cNvPr id="20" name="Text 10"/>
          <p:cNvSpPr txBox="1"/>
          <p:nvPr/>
        </p:nvSpPr>
        <p:spPr>
          <a:xfrm>
            <a:off x="7571232" y="26334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 officers and district/municipal administrators who run service delivery.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6565392" y="3611880"/>
            <a:ext cx="4617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 officers approve registrations &amp; dispatch technicians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District &amp; municipal admins oversee delivery across many wards</a:t>
            </a:r>
            <a:endParaRPr lang="en-US" sz="15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dashboard of registrations, open issues &amp; activity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04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10" name="Text 2"/>
          <p:cNvSpPr txBox="1"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Platform. One Case Number. </a:t>
            </a:r>
            <a:pPr indent="0" marL="0">
              <a:buNone/>
            </a:pPr>
            <a:r>
              <a:rPr lang="en-US" sz="2400" b="1" dirty="0">
                <a:solidFill>
                  <a:srgbClr val="0E86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Full Visibility.</a:t>
            </a:r>
            <a:endParaRPr lang="en-US" sz="2400" dirty="0"/>
          </a:p>
        </p:txBody>
      </p:sp>
      <p:sp>
        <p:nvSpPr>
          <p:cNvPr id="11" name="Text 3"/>
          <p:cNvSpPr txBox="1"/>
          <p:nvPr/>
        </p:nvSpPr>
        <p:spPr>
          <a:xfrm>
            <a:off x="640080" y="23317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DCRS gives ward offices a single system for citizen registration and a One-Stop services desk — backed by automatic SMS updates, so no citizen is left wondering what is happening with their case.</a:t>
            </a:r>
            <a:endParaRPr lang="en-US" sz="1400" dirty="0"/>
          </a:p>
        </p:txBody>
      </p:sp>
      <p:sp>
        <p:nvSpPr>
          <p:cNvPr id="12" name="Shape 4"/>
          <p:cNvSpPr/>
          <p:nvPr/>
        </p:nvSpPr>
        <p:spPr>
          <a:xfrm>
            <a:off x="640080" y="3108960"/>
            <a:ext cx="5166360" cy="2834640"/>
          </a:xfrm>
          <a:prstGeom prst="roundRect">
            <a:avLst>
              <a:gd name="adj" fmla="val 451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5"/>
          <p:cNvSpPr/>
          <p:nvPr/>
        </p:nvSpPr>
        <p:spPr>
          <a:xfrm>
            <a:off x="6382512" y="3108960"/>
            <a:ext cx="5166360" cy="2834640"/>
          </a:xfrm>
          <a:prstGeom prst="roundRect">
            <a:avLst>
              <a:gd name="adj" fmla="val 4516"/>
            </a:avLst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sp>
        <p:nvSpPr>
          <p:cNvPr id="14" name="Text 6"/>
          <p:cNvSpPr txBox="1"/>
          <p:nvPr/>
        </p:nvSpPr>
        <p:spPr>
          <a:xfrm>
            <a:off x="100584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BEFORE DCRS</a:t>
            </a:r>
            <a:endParaRPr lang="en-US" sz="1300" dirty="0"/>
          </a:p>
        </p:txBody>
      </p:sp>
      <p:sp>
        <p:nvSpPr>
          <p:cNvPr id="15" name="Text 7"/>
          <p:cNvSpPr txBox="1"/>
          <p:nvPr/>
        </p:nvSpPr>
        <p:spPr>
          <a:xfrm>
            <a:off x="6748272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WITH DCRS</a:t>
            </a:r>
            <a:endParaRPr lang="en-US" sz="13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858768"/>
            <a:ext cx="274320" cy="274320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1463040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Paper forms &amp; word-of-mouth reports</a:t>
            </a:r>
            <a:endParaRPr lang="en-US" sz="1300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4407408"/>
            <a:ext cx="274320" cy="274320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1463040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case reference number issued</a:t>
            </a:r>
            <a:endParaRPr lang="en-US" sz="13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4956048"/>
            <a:ext cx="274320" cy="27432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1463040" y="4846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status updates — citizens left guessing</a:t>
            </a:r>
            <a:endParaRPr lang="en-US" sz="1300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5504688"/>
            <a:ext cx="274320" cy="274320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1463040" y="5394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shared view for ward officers</a:t>
            </a:r>
            <a:endParaRPr lang="en-US" sz="13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48272" y="3858768"/>
            <a:ext cx="274320" cy="27432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7205472" y="37490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online registration &amp; request portal</a:t>
            </a:r>
            <a:endParaRPr lang="en-US" sz="1300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48272" y="4407408"/>
            <a:ext cx="274320" cy="274320"/>
          </a:xfrm>
          <a:prstGeom prst="rect">
            <a:avLst/>
          </a:prstGeom>
        </p:spPr>
      </p:pic>
      <p:sp>
        <p:nvSpPr>
          <p:cNvPr id="27" name="Text 13"/>
          <p:cNvSpPr txBox="1"/>
          <p:nvPr/>
        </p:nvSpPr>
        <p:spPr>
          <a:xfrm>
            <a:off x="7205472" y="4297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case number for every report</a:t>
            </a:r>
            <a:endParaRPr lang="en-US" sz="13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8272" y="4956048"/>
            <a:ext cx="274320" cy="274320"/>
          </a:xfrm>
          <a:prstGeom prst="rect">
            <a:avLst/>
          </a:prstGeom>
        </p:spPr>
      </p:pic>
      <p:sp>
        <p:nvSpPr>
          <p:cNvPr id="29" name="Text 14"/>
          <p:cNvSpPr txBox="1"/>
          <p:nvPr/>
        </p:nvSpPr>
        <p:spPr>
          <a:xfrm>
            <a:off x="7205472" y="4846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SMS at registration, dispatch &amp; resolution</a:t>
            </a:r>
            <a:endParaRPr lang="en-US" sz="13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48272" y="5504688"/>
            <a:ext cx="274320" cy="274320"/>
          </a:xfrm>
          <a:prstGeom prst="rect">
            <a:avLst/>
          </a:prstGeom>
        </p:spPr>
      </p:pic>
      <p:sp>
        <p:nvSpPr>
          <p:cNvPr id="31" name="Text 15"/>
          <p:cNvSpPr txBox="1"/>
          <p:nvPr/>
        </p:nvSpPr>
        <p:spPr>
          <a:xfrm>
            <a:off x="7205472" y="5394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Live dashboard across every ward</a:t>
            </a:r>
            <a:endParaRPr lang="en-US" sz="1300" dirty="0"/>
          </a:p>
        </p:txBody>
      </p:sp>
      <p:sp>
        <p:nvSpPr>
          <p:cNvPr id="32" name="Shape 16"/>
          <p:cNvSpPr/>
          <p:nvPr/>
        </p:nvSpPr>
        <p:spPr>
          <a:xfrm>
            <a:off x="5852160" y="4297680"/>
            <a:ext cx="457200" cy="457200"/>
          </a:xfrm>
          <a:prstGeom prst="ellipse">
            <a:avLst/>
          </a:prstGeom>
          <a:solidFill>
            <a:srgbClr val="19A7CE"/>
          </a:solidFill>
          <a:ln w="12700">
            <a:solidFill>
              <a:srgbClr val="19A7CE"/>
            </a:solidFill>
            <a:prstDash val="solid"/>
          </a:ln>
        </p:spPr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71032" y="4416552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05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HOW DCRS WORKS</a:t>
            </a:r>
            <a:endParaRPr lang="en-US" sz="3200" dirty="0"/>
          </a:p>
        </p:txBody>
      </p:sp>
      <p:sp>
        <p:nvSpPr>
          <p:cNvPr id="10" name="Shape 2"/>
          <p:cNvSpPr/>
          <p:nvPr/>
        </p:nvSpPr>
        <p:spPr>
          <a:xfrm>
            <a:off x="640080" y="187452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914400" y="214884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990" y="2297430"/>
            <a:ext cx="297180" cy="29718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6916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1. Register</a:t>
            </a:r>
            <a:endParaRPr lang="en-US" sz="1800" dirty="0"/>
          </a:p>
        </p:txBody>
      </p:sp>
      <p:sp>
        <p:nvSpPr>
          <p:cNvPr id="14" name="Text 5"/>
          <p:cNvSpPr txBox="1"/>
          <p:nvPr/>
        </p:nvSpPr>
        <p:spPr>
          <a:xfrm>
            <a:off x="91440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 registers ID, contact &amp; street/mtaa location</a:t>
            </a:r>
            <a:endParaRPr lang="en-US" sz="13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1940" y="2651760"/>
            <a:ext cx="274320" cy="274320"/>
          </a:xfrm>
          <a:prstGeom prst="rect">
            <a:avLst/>
          </a:prstGeom>
        </p:spPr>
      </p:pic>
      <p:sp>
        <p:nvSpPr>
          <p:cNvPr id="16" name="Shape 6"/>
          <p:cNvSpPr/>
          <p:nvPr/>
        </p:nvSpPr>
        <p:spPr>
          <a:xfrm>
            <a:off x="4434840" y="187452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7" name="Shape 7"/>
          <p:cNvSpPr/>
          <p:nvPr/>
        </p:nvSpPr>
        <p:spPr>
          <a:xfrm>
            <a:off x="4709160" y="214884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297430"/>
            <a:ext cx="297180" cy="297180"/>
          </a:xfrm>
          <a:prstGeom prst="rect">
            <a:avLst/>
          </a:prstGeom>
        </p:spPr>
      </p:pic>
      <p:sp>
        <p:nvSpPr>
          <p:cNvPr id="19" name="Text 8"/>
          <p:cNvSpPr txBox="1"/>
          <p:nvPr/>
        </p:nvSpPr>
        <p:spPr>
          <a:xfrm>
            <a:off x="54864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2. Approve</a:t>
            </a:r>
            <a:endParaRPr lang="en-US" sz="1800" dirty="0"/>
          </a:p>
        </p:txBody>
      </p:sp>
      <p:sp>
        <p:nvSpPr>
          <p:cNvPr id="20" name="Text 9"/>
          <p:cNvSpPr txBox="1"/>
          <p:nvPr/>
        </p:nvSpPr>
        <p:spPr>
          <a:xfrm>
            <a:off x="470916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 officer reviews &amp; approves — SMS sent either way</a:t>
            </a:r>
            <a:endParaRPr lang="en-US" sz="1300" dirty="0"/>
          </a:p>
        </p:txBody>
      </p:sp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86700" y="2651760"/>
            <a:ext cx="274320" cy="274320"/>
          </a:xfrm>
          <a:prstGeom prst="rect">
            <a:avLst/>
          </a:prstGeom>
        </p:spPr>
      </p:pic>
      <p:sp>
        <p:nvSpPr>
          <p:cNvPr id="22" name="Shape 10"/>
          <p:cNvSpPr/>
          <p:nvPr/>
        </p:nvSpPr>
        <p:spPr>
          <a:xfrm>
            <a:off x="8229600" y="187452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3" name="Shape 11"/>
          <p:cNvSpPr/>
          <p:nvPr/>
        </p:nvSpPr>
        <p:spPr>
          <a:xfrm>
            <a:off x="8503920" y="214884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52510" y="2297430"/>
            <a:ext cx="297180" cy="29718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92811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3. Report</a:t>
            </a:r>
            <a:endParaRPr lang="en-US" sz="1800" dirty="0"/>
          </a:p>
        </p:txBody>
      </p:sp>
      <p:sp>
        <p:nvSpPr>
          <p:cNvPr id="26" name="Text 13"/>
          <p:cNvSpPr txBox="1"/>
          <p:nvPr/>
        </p:nvSpPr>
        <p:spPr>
          <a:xfrm>
            <a:off x="8503920" y="2926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 files a request in 1 of 5 service categories</a:t>
            </a:r>
            <a:endParaRPr lang="en-US" sz="1300" dirty="0"/>
          </a:p>
        </p:txBody>
      </p:sp>
      <p:sp>
        <p:nvSpPr>
          <p:cNvPr id="27" name="Shape 14"/>
          <p:cNvSpPr/>
          <p:nvPr/>
        </p:nvSpPr>
        <p:spPr>
          <a:xfrm>
            <a:off x="640080" y="397764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8" name="Shape 15"/>
          <p:cNvSpPr/>
          <p:nvPr/>
        </p:nvSpPr>
        <p:spPr>
          <a:xfrm>
            <a:off x="914400" y="425196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2990" y="4400550"/>
            <a:ext cx="297180" cy="297180"/>
          </a:xfrm>
          <a:prstGeom prst="rect">
            <a:avLst/>
          </a:prstGeom>
        </p:spPr>
      </p:pic>
      <p:sp>
        <p:nvSpPr>
          <p:cNvPr id="30" name="Text 16"/>
          <p:cNvSpPr txBox="1"/>
          <p:nvPr/>
        </p:nvSpPr>
        <p:spPr>
          <a:xfrm>
            <a:off x="169164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4. Assign</a:t>
            </a:r>
            <a:endParaRPr lang="en-US" sz="1800" dirty="0"/>
          </a:p>
        </p:txBody>
      </p:sp>
      <p:sp>
        <p:nvSpPr>
          <p:cNvPr id="31" name="Text 17"/>
          <p:cNvSpPr txBox="1"/>
          <p:nvPr/>
        </p:nvSpPr>
        <p:spPr>
          <a:xfrm>
            <a:off x="91440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 staff assign a technician &amp; visit time, by SMS</a:t>
            </a:r>
            <a:endParaRPr lang="en-US" sz="130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91940" y="4754880"/>
            <a:ext cx="274320" cy="274320"/>
          </a:xfrm>
          <a:prstGeom prst="rect">
            <a:avLst/>
          </a:prstGeom>
        </p:spPr>
      </p:pic>
      <p:sp>
        <p:nvSpPr>
          <p:cNvPr id="33" name="Shape 18"/>
          <p:cNvSpPr/>
          <p:nvPr/>
        </p:nvSpPr>
        <p:spPr>
          <a:xfrm>
            <a:off x="4434840" y="397764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34" name="Shape 19"/>
          <p:cNvSpPr/>
          <p:nvPr/>
        </p:nvSpPr>
        <p:spPr>
          <a:xfrm>
            <a:off x="4709160" y="425196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57750" y="4400550"/>
            <a:ext cx="297180" cy="297180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548640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5. Resolve</a:t>
            </a:r>
            <a:endParaRPr lang="en-US" sz="1800" dirty="0"/>
          </a:p>
        </p:txBody>
      </p:sp>
      <p:sp>
        <p:nvSpPr>
          <p:cNvPr id="37" name="Text 21"/>
          <p:cNvSpPr txBox="1"/>
          <p:nvPr/>
        </p:nvSpPr>
        <p:spPr>
          <a:xfrm>
            <a:off x="470916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Issue is resolved and logged for full accountability</a:t>
            </a:r>
            <a:endParaRPr lang="en-US" sz="13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86700" y="4754880"/>
            <a:ext cx="274320" cy="274320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8229600" y="3977640"/>
            <a:ext cx="3383280" cy="1828800"/>
          </a:xfrm>
          <a:prstGeom prst="roundRect">
            <a:avLst>
              <a:gd name="adj" fmla="val 7000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40" name="Shape 23"/>
          <p:cNvSpPr/>
          <p:nvPr/>
        </p:nvSpPr>
        <p:spPr>
          <a:xfrm>
            <a:off x="8503920" y="4251960"/>
            <a:ext cx="594360" cy="59436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52510" y="4400550"/>
            <a:ext cx="297180" cy="297180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928116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6. Rate</a:t>
            </a:r>
            <a:endParaRPr lang="en-US" sz="1800" dirty="0"/>
          </a:p>
        </p:txBody>
      </p:sp>
      <p:sp>
        <p:nvSpPr>
          <p:cNvPr id="43" name="Text 25"/>
          <p:cNvSpPr txBox="1"/>
          <p:nvPr/>
        </p:nvSpPr>
        <p:spPr>
          <a:xfrm>
            <a:off x="8503920" y="50292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Citizen is prompted to rate the service received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06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SCOPE</a:t>
            </a:r>
            <a:endParaRPr lang="en-US" sz="3200" dirty="0"/>
          </a:p>
        </p:txBody>
      </p:sp>
      <p:sp>
        <p:nvSpPr>
          <p:cNvPr id="10" name="Text 2"/>
          <p:cNvSpPr txBox="1"/>
          <p:nvPr/>
        </p:nvSpPr>
        <p:spPr>
          <a:xfrm>
            <a:off x="640080" y="18745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E86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SCOPE</a:t>
            </a:r>
            <a:endParaRPr lang="en-US" sz="1300" dirty="0"/>
          </a:p>
        </p:txBody>
      </p:sp>
      <p:sp>
        <p:nvSpPr>
          <p:cNvPr id="11" name="Text 3"/>
          <p:cNvSpPr txBox="1"/>
          <p:nvPr/>
        </p:nvSpPr>
        <p:spPr>
          <a:xfrm>
            <a:off x="640080" y="2240280"/>
            <a:ext cx="4389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Five Community</a:t>
            </a:r>
            <a:endParaRPr lang="en-US" sz="2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Service Categories</a:t>
            </a:r>
            <a:endParaRPr lang="en-US" sz="2600" dirty="0"/>
          </a:p>
        </p:txBody>
      </p:sp>
      <p:sp>
        <p:nvSpPr>
          <p:cNvPr id="12" name="Text 4"/>
          <p:cNvSpPr txBox="1"/>
          <p:nvPr/>
        </p:nvSpPr>
        <p:spPr>
          <a:xfrm>
            <a:off x="640080" y="3566160"/>
            <a:ext cx="4206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DCRS focuses on ward-level citizen registration and a One-Stop service-request desk, covering five community service categories.</a:t>
            </a:r>
            <a:endParaRPr lang="en-US" sz="1500" dirty="0"/>
          </a:p>
        </p:txBody>
      </p:sp>
      <p:sp>
        <p:nvSpPr>
          <p:cNvPr id="13" name="Shape 5"/>
          <p:cNvSpPr/>
          <p:nvPr/>
        </p:nvSpPr>
        <p:spPr>
          <a:xfrm>
            <a:off x="5394960" y="1874520"/>
            <a:ext cx="1920240" cy="1783080"/>
          </a:xfrm>
          <a:prstGeom prst="roundRect">
            <a:avLst>
              <a:gd name="adj" fmla="val 717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5966460" y="214884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0770" y="2343150"/>
            <a:ext cx="388620" cy="38862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539496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Water</a:t>
            </a:r>
            <a:endParaRPr lang="en-US" sz="1600" dirty="0"/>
          </a:p>
        </p:txBody>
      </p:sp>
      <p:sp>
        <p:nvSpPr>
          <p:cNvPr id="17" name="Shape 8"/>
          <p:cNvSpPr/>
          <p:nvPr/>
        </p:nvSpPr>
        <p:spPr>
          <a:xfrm>
            <a:off x="7543800" y="1874520"/>
            <a:ext cx="1920240" cy="1783080"/>
          </a:xfrm>
          <a:prstGeom prst="roundRect">
            <a:avLst>
              <a:gd name="adj" fmla="val 717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8" name="Shape 9"/>
          <p:cNvSpPr/>
          <p:nvPr/>
        </p:nvSpPr>
        <p:spPr>
          <a:xfrm>
            <a:off x="8115300" y="214884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610" y="2343150"/>
            <a:ext cx="388620" cy="38862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754380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Electricity</a:t>
            </a:r>
            <a:endParaRPr lang="en-US" sz="1600" dirty="0"/>
          </a:p>
        </p:txBody>
      </p:sp>
      <p:sp>
        <p:nvSpPr>
          <p:cNvPr id="21" name="Shape 11"/>
          <p:cNvSpPr/>
          <p:nvPr/>
        </p:nvSpPr>
        <p:spPr>
          <a:xfrm>
            <a:off x="9692640" y="1874520"/>
            <a:ext cx="1920240" cy="1783080"/>
          </a:xfrm>
          <a:prstGeom prst="roundRect">
            <a:avLst>
              <a:gd name="adj" fmla="val 717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2" name="Shape 12"/>
          <p:cNvSpPr/>
          <p:nvPr/>
        </p:nvSpPr>
        <p:spPr>
          <a:xfrm>
            <a:off x="10264140" y="214884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8450" y="2343150"/>
            <a:ext cx="388620" cy="38862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9692640" y="30632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Waste</a:t>
            </a:r>
            <a:endParaRPr lang="en-US" sz="1600" dirty="0"/>
          </a:p>
        </p:txBody>
      </p:sp>
      <p:sp>
        <p:nvSpPr>
          <p:cNvPr id="25" name="Shape 14"/>
          <p:cNvSpPr/>
          <p:nvPr/>
        </p:nvSpPr>
        <p:spPr>
          <a:xfrm>
            <a:off x="6469380" y="3931920"/>
            <a:ext cx="1920240" cy="1783080"/>
          </a:xfrm>
          <a:prstGeom prst="roundRect">
            <a:avLst>
              <a:gd name="adj" fmla="val 717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7040880" y="420624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5190" y="4400550"/>
            <a:ext cx="388620" cy="38862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6469380" y="5120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Roads</a:t>
            </a:r>
            <a:endParaRPr lang="en-US" sz="1600" dirty="0"/>
          </a:p>
        </p:txBody>
      </p:sp>
      <p:sp>
        <p:nvSpPr>
          <p:cNvPr id="29" name="Shape 17"/>
          <p:cNvSpPr/>
          <p:nvPr/>
        </p:nvSpPr>
        <p:spPr>
          <a:xfrm>
            <a:off x="8618220" y="3931920"/>
            <a:ext cx="1920240" cy="1783080"/>
          </a:xfrm>
          <a:prstGeom prst="roundRect">
            <a:avLst>
              <a:gd name="adj" fmla="val 7179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30" name="Shape 18"/>
          <p:cNvSpPr/>
          <p:nvPr/>
        </p:nvSpPr>
        <p:spPr>
          <a:xfrm>
            <a:off x="9189720" y="4206240"/>
            <a:ext cx="777240" cy="7772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84030" y="4400550"/>
            <a:ext cx="388620" cy="38862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8618220" y="5120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07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10" name="Shape 2"/>
          <p:cNvSpPr/>
          <p:nvPr/>
        </p:nvSpPr>
        <p:spPr>
          <a:xfrm>
            <a:off x="640080" y="182880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6002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Backend</a:t>
            </a:r>
            <a:endParaRPr lang="en-US" sz="1700" dirty="0"/>
          </a:p>
        </p:txBody>
      </p:sp>
      <p:sp>
        <p:nvSpPr>
          <p:cNvPr id="14" name="Text 5"/>
          <p:cNvSpPr txBox="1"/>
          <p:nvPr/>
        </p:nvSpPr>
        <p:spPr>
          <a:xfrm>
            <a:off x="86868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Python / Django</a:t>
            </a:r>
            <a:endParaRPr lang="en-US" sz="1300" dirty="0"/>
          </a:p>
        </p:txBody>
      </p:sp>
      <p:sp>
        <p:nvSpPr>
          <p:cNvPr id="15" name="Shape 6"/>
          <p:cNvSpPr/>
          <p:nvPr/>
        </p:nvSpPr>
        <p:spPr>
          <a:xfrm>
            <a:off x="4343400" y="182880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6" name="Shape 7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2194560"/>
            <a:ext cx="274320" cy="274320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530352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9" name="Text 9"/>
          <p:cNvSpPr txBox="1"/>
          <p:nvPr/>
        </p:nvSpPr>
        <p:spPr>
          <a:xfrm>
            <a:off x="457200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0" name="Shape 10"/>
          <p:cNvSpPr/>
          <p:nvPr/>
        </p:nvSpPr>
        <p:spPr>
          <a:xfrm>
            <a:off x="8046720" y="182880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1" name="Shape 11"/>
          <p:cNvSpPr/>
          <p:nvPr/>
        </p:nvSpPr>
        <p:spPr>
          <a:xfrm>
            <a:off x="8275320" y="205740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2480" y="2194560"/>
            <a:ext cx="274320" cy="27432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90068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Frontend</a:t>
            </a:r>
            <a:endParaRPr lang="en-US" sz="1700" dirty="0"/>
          </a:p>
        </p:txBody>
      </p:sp>
      <p:sp>
        <p:nvSpPr>
          <p:cNvPr id="24" name="Text 13"/>
          <p:cNvSpPr txBox="1"/>
          <p:nvPr/>
        </p:nvSpPr>
        <p:spPr>
          <a:xfrm>
            <a:off x="8275320" y="274320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React + Tailwind CSS — lightweight SPA, code-split &amp; minimized</a:t>
            </a:r>
            <a:endParaRPr lang="en-US" sz="1300" dirty="0"/>
          </a:p>
        </p:txBody>
      </p:sp>
      <p:sp>
        <p:nvSpPr>
          <p:cNvPr id="25" name="Shape 14"/>
          <p:cNvSpPr/>
          <p:nvPr/>
        </p:nvSpPr>
        <p:spPr>
          <a:xfrm>
            <a:off x="640080" y="356616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868680" y="379476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840" y="3931920"/>
            <a:ext cx="274320" cy="27432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60020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Communication</a:t>
            </a:r>
            <a:endParaRPr lang="en-US" sz="1700" dirty="0"/>
          </a:p>
        </p:txBody>
      </p:sp>
      <p:sp>
        <p:nvSpPr>
          <p:cNvPr id="29" name="Text 17"/>
          <p:cNvSpPr txBox="1"/>
          <p:nvPr/>
        </p:nvSpPr>
        <p:spPr>
          <a:xfrm>
            <a:off x="86868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SMS gateway API for status updates &amp; delivery confirmation</a:t>
            </a:r>
            <a:endParaRPr lang="en-US" sz="1300" dirty="0"/>
          </a:p>
        </p:txBody>
      </p:sp>
      <p:sp>
        <p:nvSpPr>
          <p:cNvPr id="30" name="Shape 18"/>
          <p:cNvSpPr/>
          <p:nvPr/>
        </p:nvSpPr>
        <p:spPr>
          <a:xfrm>
            <a:off x="4343400" y="356616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31" name="Shape 19"/>
          <p:cNvSpPr/>
          <p:nvPr/>
        </p:nvSpPr>
        <p:spPr>
          <a:xfrm>
            <a:off x="4572000" y="379476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9160" y="3931920"/>
            <a:ext cx="274320" cy="274320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530352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34" name="Text 21"/>
          <p:cNvSpPr txBox="1"/>
          <p:nvPr/>
        </p:nvSpPr>
        <p:spPr>
          <a:xfrm>
            <a:off x="457200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Gunicorn + Nginx</a:t>
            </a:r>
            <a:endParaRPr lang="en-US" sz="1300" dirty="0"/>
          </a:p>
        </p:txBody>
      </p:sp>
      <p:sp>
        <p:nvSpPr>
          <p:cNvPr id="35" name="Shape 22"/>
          <p:cNvSpPr/>
          <p:nvPr/>
        </p:nvSpPr>
        <p:spPr>
          <a:xfrm>
            <a:off x="8046720" y="3566160"/>
            <a:ext cx="3520440" cy="1554480"/>
          </a:xfrm>
          <a:prstGeom prst="roundRect">
            <a:avLst>
              <a:gd name="adj" fmla="val 823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3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2480" y="3931920"/>
            <a:ext cx="274320" cy="274320"/>
          </a:xfrm>
          <a:prstGeom prst="rect">
            <a:avLst/>
          </a:prstGeom>
        </p:spPr>
      </p:pic>
      <p:sp>
        <p:nvSpPr>
          <p:cNvPr id="38" name="Text 24"/>
          <p:cNvSpPr txBox="1"/>
          <p:nvPr/>
        </p:nvSpPr>
        <p:spPr>
          <a:xfrm>
            <a:off x="9006840" y="3840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Security</a:t>
            </a:r>
            <a:endParaRPr lang="en-US" sz="1700" dirty="0"/>
          </a:p>
        </p:txBody>
      </p:sp>
      <p:sp>
        <p:nvSpPr>
          <p:cNvPr id="39" name="Text 25"/>
          <p:cNvSpPr txBox="1"/>
          <p:nvPr/>
        </p:nvSpPr>
        <p:spPr>
          <a:xfrm>
            <a:off x="8275320" y="44805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Served over SSL — encrypted HTTPS throughout</a:t>
            </a:r>
            <a:endParaRPr lang="en-US" sz="1300" dirty="0"/>
          </a:p>
        </p:txBody>
      </p:sp>
      <p:sp>
        <p:nvSpPr>
          <p:cNvPr id="40" name="Shape 26"/>
          <p:cNvSpPr/>
          <p:nvPr/>
        </p:nvSpPr>
        <p:spPr>
          <a:xfrm>
            <a:off x="640080" y="5349240"/>
            <a:ext cx="10927080" cy="731520"/>
          </a:xfrm>
          <a:prstGeom prst="roundRect">
            <a:avLst>
              <a:gd name="adj" fmla="val 17500"/>
            </a:avLst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4400" y="5596128"/>
            <a:ext cx="237744" cy="237744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1417320" y="53949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Decoupled architecture: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Django REST API + React frontend, confirmed over server-side rendering — prioritizing a reusable API layer for platform scalability.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08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BUILT FOR REAL CONDITIONS</a:t>
            </a:r>
            <a:endParaRPr lang="en-US" sz="3200" dirty="0"/>
          </a:p>
        </p:txBody>
      </p:sp>
      <p:sp>
        <p:nvSpPr>
          <p:cNvPr id="10" name="Text 2"/>
          <p:cNvSpPr txBox="1"/>
          <p:nvPr/>
        </p:nvSpPr>
        <p:spPr>
          <a:xfrm>
            <a:off x="640080" y="187452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Small Footprint,</a:t>
            </a:r>
            <a:endParaRPr lang="en-US" sz="2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by Design</a:t>
            </a:r>
            <a:endParaRPr lang="en-US" sz="2800" dirty="0"/>
          </a:p>
        </p:txBody>
      </p:sp>
      <p:sp>
        <p:nvSpPr>
          <p:cNvPr id="11" name="Text 3"/>
          <p:cNvSpPr txBox="1"/>
          <p:nvPr/>
        </p:nvSpPr>
        <p:spPr>
          <a:xfrm>
            <a:off x="640080" y="3154680"/>
            <a:ext cx="5669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DCRS’s frontend is a React and Tailwind CSS single-page application built with a deliberately small footprint — code-splitting, lazy-loaded routes, and a minimized production bundle keep initial load light.</a:t>
            </a:r>
            <a:endParaRPr lang="en-US" sz="1400" dirty="0"/>
          </a:p>
        </p:txBody>
      </p:sp>
      <p:sp>
        <p:nvSpPr>
          <p:cNvPr id="12" name="Text 4"/>
          <p:cNvSpPr txBox="1"/>
          <p:nvPr/>
        </p:nvSpPr>
        <p:spPr>
          <a:xfrm>
            <a:off x="640080" y="4617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It runs in a standard mobile browser — no app install — and stays usable on 2G/3G connections and low-end Android devices.</a:t>
            </a:r>
            <a:endParaRPr lang="en-US" sz="1400" dirty="0"/>
          </a:p>
        </p:txBody>
      </p:sp>
      <p:sp>
        <p:nvSpPr>
          <p:cNvPr id="13" name="Shape 5"/>
          <p:cNvSpPr/>
          <p:nvPr/>
        </p:nvSpPr>
        <p:spPr>
          <a:xfrm>
            <a:off x="6858000" y="1874520"/>
            <a:ext cx="4663440" cy="3840480"/>
          </a:xfrm>
          <a:prstGeom prst="roundRect">
            <a:avLst>
              <a:gd name="adj" fmla="val 3333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595360" y="2240280"/>
            <a:ext cx="914400" cy="91440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3960" y="2468880"/>
            <a:ext cx="457200" cy="457200"/>
          </a:xfrm>
          <a:prstGeom prst="rect">
            <a:avLst/>
          </a:prstGeom>
        </p:spPr>
      </p:pic>
      <p:sp>
        <p:nvSpPr>
          <p:cNvPr id="16" name="Text 7"/>
          <p:cNvSpPr txBox="1"/>
          <p:nvPr/>
        </p:nvSpPr>
        <p:spPr>
          <a:xfrm>
            <a:off x="7132320" y="34290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 Smartphone? No Data?</a:t>
            </a:r>
            <a:endParaRPr lang="en-US" sz="2000" dirty="0"/>
          </a:p>
        </p:txBody>
      </p:sp>
      <p:sp>
        <p:nvSpPr>
          <p:cNvPr id="17" name="Text 8"/>
          <p:cNvSpPr txBox="1"/>
          <p:nvPr/>
        </p:nvSpPr>
        <p:spPr>
          <a:xfrm>
            <a:off x="7223760" y="393192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Every meaningful update is also pushed by SMS — so citizens without a smartphone or active data plan receive the same status updates as those using the web portal.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0015" y="6565392"/>
            <a:ext cx="2011680" cy="292608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6382512"/>
            <a:ext cx="457200" cy="228600"/>
          </a:xfrm>
          <a:prstGeom prst="rect">
            <a:avLst/>
          </a:prstGeom>
        </p:spPr>
      </p:pic>
      <p:sp>
        <p:nvSpPr>
          <p:cNvPr id="8" name="Text 0"/>
          <p:cNvSpPr txBox="1"/>
          <p:nvPr/>
        </p:nvSpPr>
        <p:spPr>
          <a:xfrm>
            <a:off x="1234440" y="638251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</a:t>
            </a:r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Digital Citizen Response System</a:t>
            </a:r>
            <a:endParaRPr lang="en-US" sz="1100" dirty="0"/>
          </a:p>
        </p:txBody>
      </p:sp>
      <p:sp>
        <p:nvSpPr>
          <p:cNvPr id="9" name="Text 1"/>
          <p:cNvSpPr txBox="1"/>
          <p:nvPr/>
        </p:nvSpPr>
        <p:spPr>
          <a:xfrm>
            <a:off x="64008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SUCCESS LOOKS LIKE</a:t>
            </a:r>
            <a:endParaRPr lang="en-US" sz="3200" dirty="0"/>
          </a:p>
        </p:txBody>
      </p:sp>
      <p:sp>
        <p:nvSpPr>
          <p:cNvPr id="10" name="Shape 2"/>
          <p:cNvSpPr/>
          <p:nvPr/>
        </p:nvSpPr>
        <p:spPr>
          <a:xfrm>
            <a:off x="640080" y="18745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1" name="Shape 3"/>
          <p:cNvSpPr/>
          <p:nvPr/>
        </p:nvSpPr>
        <p:spPr>
          <a:xfrm>
            <a:off x="914400" y="230886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420" y="2468880"/>
            <a:ext cx="320040" cy="320040"/>
          </a:xfrm>
          <a:prstGeom prst="rect">
            <a:avLst/>
          </a:prstGeom>
        </p:spPr>
      </p:pic>
      <p:sp>
        <p:nvSpPr>
          <p:cNvPr id="13" name="Text 4"/>
          <p:cNvSpPr txBox="1"/>
          <p:nvPr/>
        </p:nvSpPr>
        <p:spPr>
          <a:xfrm>
            <a:off x="1737360" y="20574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Registrations reviewed within 24–48 hours</a:t>
            </a:r>
            <a:endParaRPr lang="en-US" sz="1400" dirty="0"/>
          </a:p>
        </p:txBody>
      </p:sp>
      <p:sp>
        <p:nvSpPr>
          <p:cNvPr id="14" name="Shape 5"/>
          <p:cNvSpPr/>
          <p:nvPr/>
        </p:nvSpPr>
        <p:spPr>
          <a:xfrm>
            <a:off x="4343400" y="18745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5" name="Shape 6"/>
          <p:cNvSpPr/>
          <p:nvPr/>
        </p:nvSpPr>
        <p:spPr>
          <a:xfrm>
            <a:off x="4617720" y="230886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7740" y="2468880"/>
            <a:ext cx="320040" cy="320040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5440680" y="20574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SMS delivery confirmation rate</a:t>
            </a:r>
            <a:endParaRPr lang="en-US" sz="1400" dirty="0"/>
          </a:p>
        </p:txBody>
      </p:sp>
      <p:sp>
        <p:nvSpPr>
          <p:cNvPr id="18" name="Shape 8"/>
          <p:cNvSpPr/>
          <p:nvPr/>
        </p:nvSpPr>
        <p:spPr>
          <a:xfrm>
            <a:off x="8046720" y="187452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19" name="Shape 9"/>
          <p:cNvSpPr/>
          <p:nvPr/>
        </p:nvSpPr>
        <p:spPr>
          <a:xfrm>
            <a:off x="8321040" y="230886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81060" y="2468880"/>
            <a:ext cx="320040" cy="320040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9144000" y="20574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time from report to resolution</a:t>
            </a:r>
            <a:endParaRPr lang="en-US" sz="1400" dirty="0"/>
          </a:p>
        </p:txBody>
      </p:sp>
      <p:sp>
        <p:nvSpPr>
          <p:cNvPr id="22" name="Shape 11"/>
          <p:cNvSpPr/>
          <p:nvPr/>
        </p:nvSpPr>
        <p:spPr>
          <a:xfrm>
            <a:off x="640080" y="356616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3" name="Shape 12"/>
          <p:cNvSpPr/>
          <p:nvPr/>
        </p:nvSpPr>
        <p:spPr>
          <a:xfrm>
            <a:off x="914400" y="400050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420" y="4160520"/>
            <a:ext cx="320040" cy="32004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1737360" y="3749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Average citizen satisfaction rating</a:t>
            </a:r>
            <a:endParaRPr lang="en-US" sz="1400" dirty="0"/>
          </a:p>
        </p:txBody>
      </p:sp>
      <p:sp>
        <p:nvSpPr>
          <p:cNvPr id="26" name="Shape 14"/>
          <p:cNvSpPr/>
          <p:nvPr/>
        </p:nvSpPr>
        <p:spPr>
          <a:xfrm>
            <a:off x="4343400" y="356616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27" name="Shape 15"/>
          <p:cNvSpPr/>
          <p:nvPr/>
        </p:nvSpPr>
        <p:spPr>
          <a:xfrm>
            <a:off x="4617720" y="400050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77740" y="4160520"/>
            <a:ext cx="320040" cy="32004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5440680" y="3749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Wards actively using DCRS in the pilot</a:t>
            </a:r>
            <a:endParaRPr lang="en-US" sz="1400" dirty="0"/>
          </a:p>
        </p:txBody>
      </p:sp>
      <p:sp>
        <p:nvSpPr>
          <p:cNvPr id="30" name="Shape 17"/>
          <p:cNvSpPr/>
          <p:nvPr/>
        </p:nvSpPr>
        <p:spPr>
          <a:xfrm>
            <a:off x="8046720" y="3566160"/>
            <a:ext cx="3520440" cy="1508760"/>
          </a:xfrm>
          <a:prstGeom prst="roundRect">
            <a:avLst>
              <a:gd name="adj" fmla="val 8485"/>
            </a:avLst>
          </a:prstGeom>
          <a:solidFill>
            <a:srgbClr val="EAF5FA"/>
          </a:solidFill>
          <a:ln w="12700">
            <a:solidFill>
              <a:srgbClr val="EAF5FA"/>
            </a:solidFill>
            <a:prstDash val="solid"/>
          </a:ln>
        </p:spPr>
      </p:sp>
      <p:sp>
        <p:nvSpPr>
          <p:cNvPr id="31" name="Shape 18"/>
          <p:cNvSpPr/>
          <p:nvPr/>
        </p:nvSpPr>
        <p:spPr>
          <a:xfrm>
            <a:off x="8321040" y="4000500"/>
            <a:ext cx="640080" cy="640080"/>
          </a:xfrm>
          <a:prstGeom prst="ellipse">
            <a:avLst/>
          </a:prstGeom>
          <a:solidFill>
            <a:srgbClr val="146C94"/>
          </a:solidFill>
          <a:ln w="12700">
            <a:solidFill>
              <a:srgbClr val="146C94"/>
            </a:solidFill>
            <a:prstDash val="solid"/>
          </a:ln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81060" y="4160520"/>
            <a:ext cx="320040" cy="320040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9144000" y="37490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Drop in repeat or unresolved complaints</a:t>
            </a:r>
            <a:endParaRPr lang="en-US" sz="1400" dirty="0"/>
          </a:p>
        </p:txBody>
      </p:sp>
      <p:sp>
        <p:nvSpPr>
          <p:cNvPr id="34" name="Text 20"/>
          <p:cNvSpPr txBox="1"/>
          <p:nvPr/>
        </p:nvSpPr>
        <p:spPr>
          <a:xfrm>
            <a:off x="640080" y="53949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Measured through the platform’s own registration, dispatch, and feedback data.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011680" cy="2926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0"/>
            <a:ext cx="2743200" cy="17526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575" y="4053840"/>
            <a:ext cx="4389120" cy="2804160"/>
          </a:xfrm>
          <a:prstGeom prst="rect">
            <a:avLst/>
          </a:prstGeom>
        </p:spPr>
      </p:pic>
      <p:pic>
        <p:nvPicPr>
          <p:cNvPr id="5" name="Image 3" descr="/home/claude/orig/ppt/media/image-1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7200"/>
            <a:ext cx="457200" cy="464515"/>
          </a:xfrm>
          <a:prstGeom prst="rect">
            <a:avLst/>
          </a:prstGeom>
        </p:spPr>
      </p:pic>
      <p:pic>
        <p:nvPicPr>
          <p:cNvPr id="6" name="Image 4" descr="/home/claude/orig/ppt/media/image-1-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457200"/>
            <a:ext cx="969264" cy="457200"/>
          </a:xfrm>
          <a:prstGeom prst="rect">
            <a:avLst/>
          </a:prstGeom>
        </p:spPr>
      </p:pic>
      <p:sp>
        <p:nvSpPr>
          <p:cNvPr id="7" name="Text 0"/>
          <p:cNvSpPr txBox="1"/>
          <p:nvPr/>
        </p:nvSpPr>
        <p:spPr>
          <a:xfrm>
            <a:off x="64008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46C9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Text 1"/>
          <p:cNvSpPr txBox="1"/>
          <p:nvPr/>
        </p:nvSpPr>
        <p:spPr>
          <a:xfrm>
            <a:off x="640080" y="3337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Digital Citizen Response System</a:t>
            </a:r>
            <a:endParaRPr lang="en-US" sz="2400" dirty="0"/>
          </a:p>
        </p:txBody>
      </p:sp>
      <p:sp>
        <p:nvSpPr>
          <p:cNvPr id="9" name="Text 2"/>
          <p:cNvSpPr txBox="1"/>
          <p:nvPr/>
        </p:nvSpPr>
        <p:spPr>
          <a:xfrm>
            <a:off x="640080" y="3931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E86A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case. One number. Full visibility — for every ward.</a:t>
            </a:r>
            <a:endParaRPr lang="en-US" sz="1600" dirty="0"/>
          </a:p>
        </p:txBody>
      </p:sp>
      <p:sp>
        <p:nvSpPr>
          <p:cNvPr id="10" name="Text 3"/>
          <p:cNvSpPr txBox="1"/>
          <p:nvPr/>
        </p:nvSpPr>
        <p:spPr>
          <a:xfrm>
            <a:off x="640080" y="62636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RIDC PT Innovation Hackathon 2026  ·  Software Category  ·  Smart Governance &amp; Public Service Delivery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Citizen Response System (DCRS)</dc:title>
  <dc:subject>PptxGenJS Presentation</dc:subject>
  <dc:creator>DCRS Team</dc:creator>
  <cp:lastModifiedBy>DCRS Team</cp:lastModifiedBy>
  <cp:revision>1</cp:revision>
  <dcterms:created xsi:type="dcterms:W3CDTF">2026-09-28T07:46:00Z</dcterms:created>
  <dcterms:modified xsi:type="dcterms:W3CDTF">2026-09-28T07:46:00Z</dcterms:modified>
</cp:coreProperties>
</file>